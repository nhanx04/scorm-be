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3. PHÂN TÍCH VÀ THIẾT KẾ HỆ THỐNG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Kiến trúc module AI — pipeline 2 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7899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Điều phối bởi AiFeatureController · tích hợp qua Spring AI ChatClient (trừu tượng nhà cung cấp — có thể thay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5943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Montserrat"/>
              </a:rPr>
              <a:t>● PHA A — INGEST / INDEX  (offline, @Async)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1828800" cy="749808"/>
          </a:xfrm>
          <a:prstGeom prst="roundRect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19072"/>
            <a:ext cx="173736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0030B0"/>
                </a:solidFill>
                <a:latin typeface="Montserrat"/>
              </a:rPr>
              <a:t>Tài liệu nguồn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0030B0"/>
                </a:solidFill>
                <a:latin typeface="Arial"/>
              </a:rPr>
              <a:t>PDF / DOCX / PPT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67712" y="1975104"/>
            <a:ext cx="219456" cy="18288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14600" y="1691640"/>
            <a:ext cx="2011680" cy="749808"/>
          </a:xfrm>
          <a:prstGeom prst="roundRect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719072"/>
            <a:ext cx="192024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0030B0"/>
                </a:solidFill>
                <a:latin typeface="Montserrat"/>
              </a:rPr>
              <a:t>DocumentChunker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0030B0"/>
                </a:solidFill>
                <a:latin typeface="Arial"/>
              </a:rPr>
              <a:t>1200 / overlap 200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44568" y="1975104"/>
            <a:ext cx="192024" cy="18288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1691640"/>
            <a:ext cx="2651760" cy="749808"/>
          </a:xfrm>
          <a:prstGeom prst="roundRect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719072"/>
            <a:ext cx="256032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0030B0"/>
                </a:solidFill>
                <a:latin typeface="Montserrat"/>
              </a:rPr>
              <a:t>GeminiEmbeddingClient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0030B0"/>
                </a:solidFill>
                <a:latin typeface="Arial"/>
              </a:rPr>
              <a:t>768 chiều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828800"/>
            <a:ext cx="411480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1">
                <a:solidFill>
                  <a:srgbClr val="6B7280"/>
                </a:solidFill>
                <a:latin typeface="Arial"/>
              </a:rPr>
              <a:t>Chạy MỘT LẦN lúc lưu khóa học</a:t>
            </a:r>
          </a:p>
          <a:p>
            <a:pPr algn="l"/>
            <a:r>
              <a:rPr sz="1050" b="0" i="1">
                <a:solidFill>
                  <a:srgbClr val="6B7280"/>
                </a:solidFill>
                <a:latin typeface="Arial"/>
              </a:rPr>
              <a:t>(tài liệu → vector), không lặp khi sinh.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788920"/>
            <a:ext cx="2651760" cy="9144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816351"/>
            <a:ext cx="2560320" cy="85953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pgvector — kho vector khóa học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DocumentChunkDao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61888" y="2459736"/>
            <a:ext cx="237744" cy="310896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43230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ghi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61888" y="3767328"/>
            <a:ext cx="237744" cy="713232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977639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đọc top-k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187952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50" b="1" i="0">
                <a:solidFill>
                  <a:srgbClr val="0070C0"/>
                </a:solidFill>
                <a:latin typeface="Montserrat"/>
              </a:rPr>
              <a:t>● PHA B — SINH NỘI DUNG  (online · mỗi request)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526280"/>
            <a:ext cx="1828800" cy="749808"/>
          </a:xfrm>
          <a:prstGeom prst="roundRect">
            <a:avLst/>
          </a:prstGeom>
          <a:solidFill>
            <a:srgbClr val="D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53712"/>
            <a:ext cx="173736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0030B0"/>
                </a:solidFill>
                <a:latin typeface="Montserrat"/>
              </a:rPr>
              <a:t>Yêu cầu người dùng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0030B0"/>
                </a:solidFill>
                <a:latin typeface="Arial"/>
              </a:rPr>
              <a:t>chủ đề · độ khó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86000" y="4809744"/>
            <a:ext cx="2377440" cy="18288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54880" y="4526280"/>
            <a:ext cx="2651760" cy="749808"/>
          </a:xfrm>
          <a:prstGeom prst="roundRect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4553712"/>
            <a:ext cx="256032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0030B0"/>
                </a:solidFill>
                <a:latin typeface="Montserrat"/>
              </a:rPr>
              <a:t>Embed query → truy xuất top-k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0030B0"/>
                </a:solidFill>
                <a:latin typeface="Arial"/>
              </a:rPr>
              <a:t>(fallback: nhồi tài liệu)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424927" y="4809744"/>
            <a:ext cx="182880" cy="18288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35240" y="4526280"/>
            <a:ext cx="2103120" cy="749808"/>
          </a:xfrm>
          <a:prstGeom prst="roundRect">
            <a:avLst/>
          </a:prstGeom>
          <a:solidFill>
            <a:srgbClr val="006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4553712"/>
            <a:ext cx="2011679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AiGeneratorService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ChatClient → Gemini 2.5 Pro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747504" y="4809744"/>
            <a:ext cx="118872" cy="18288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75520" y="4526280"/>
            <a:ext cx="1874519" cy="749808"/>
          </a:xfrm>
          <a:prstGeom prst="roundRect">
            <a:avLst/>
          </a:prstGeom>
          <a:solidFill>
            <a:srgbClr val="D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1240" y="4553712"/>
            <a:ext cx="1783079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QuizSchemaValidator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gate + retry (Quiz)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349240"/>
            <a:ext cx="4114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>
                <a:solidFill>
                  <a:srgbClr val="0030B0"/>
                </a:solidFill>
                <a:latin typeface="Montserrat"/>
              </a:rPr>
              <a:t>↓  Đầu ra: JSON có schema  →  trình soạn thảo SCORM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Arial"/>
              </a:rPr>
              <a:t>Toàn bộ fail-soft: RAG lỗi/chưa index → tự fallback nhồi toàn tài liệu, không làm hỏng luồng. Gate chỉ áp cho Quiz; outline/page-content đi thẳng từ LLM.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3. PHÂN TÍCH VÀ THIẾT KẾ HỆ THỐNG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Vì sao chọn Google Gemini 2.5 Pro?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A2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4132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541324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472184"/>
            <a:ext cx="51937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01 · Context window cực lớn (~1M token)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03120"/>
            <a:ext cx="5084064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Nhồi TOÀN BỘ tài liệu nguồn để bám sát — tài liệu test có cuốn 360 trang.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⭐ Lý do quyết định: model context nhỏ không grounding nổi.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17320"/>
            <a:ext cx="54132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413248" cy="566928"/>
          </a:xfrm>
          <a:prstGeom prst="roundRect">
            <a:avLst/>
          </a:prstGeom>
          <a:solidFill>
            <a:srgbClr val="D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472184"/>
            <a:ext cx="51937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0030B0"/>
                </a:solidFill>
                <a:latin typeface="Montserrat"/>
              </a:rPr>
              <a:t>02 · Đa phương thức (multimodal) gốc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084064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Đọc &amp; hiểu trực tiếp PDF / DOCX / PPT 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đúng định dạng học liệu giảng viên tải lên.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54132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5413248" cy="566928"/>
          </a:xfrm>
          <a:prstGeom prst="roundRect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438144"/>
            <a:ext cx="51937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0030B0"/>
                </a:solidFill>
                <a:latin typeface="Montserrat"/>
              </a:rPr>
              <a:t>03 · Structured output (JSON) ổn định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69080"/>
            <a:ext cx="5084064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Mọi tính năng parse JSON theo schema.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→ Đã đo 100% JSON/schema hợp lệ (60 lượt gọi).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83280"/>
            <a:ext cx="54132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8" y="3383280"/>
            <a:ext cx="5413248" cy="566928"/>
          </a:xfrm>
          <a:prstGeom prst="roundRect">
            <a:avLst/>
          </a:prstGeom>
          <a:solidFill>
            <a:srgbClr val="F7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438144"/>
            <a:ext cx="51937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D05050"/>
                </a:solidFill>
                <a:latin typeface="Montserrat"/>
              </a:rPr>
              <a:t>04 · Tiếng Việt tốt + hệ sinh thái thống nhất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69080"/>
            <a:ext cx="5084064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Corpus nhiều tài liệu Việt; cùng nhà cung cấp có embedding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gemini-embedding-001 cho RAG; quota/chi phí hợp lý.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49240"/>
            <a:ext cx="10908792" cy="868680"/>
          </a:xfrm>
          <a:prstGeom prst="round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68112"/>
            <a:ext cx="1042416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30B0"/>
                </a:solidFill>
                <a:latin typeface="Arial"/>
              </a:rPr>
              <a:t>Tích hợp qua Spring AI ChatClient → trừu tượng hoá nhà cung cấp: có thể THAY MODEL mà không sửa nghiệp vụ (không khoá cứng vendor).</a:t>
            </a:r>
          </a:p>
          <a:p>
            <a:pPr algn="l"/>
            <a:r>
              <a:rPr sz="1150" b="0" i="1">
                <a:solidFill>
                  <a:srgbClr val="6B7280"/>
                </a:solidFill>
                <a:latin typeface="Arial"/>
              </a:rPr>
              <a:t>Lưu ý trung thực: chưa chạy bake-off head-to-head GPT/Claude — chọn theo tiêu chí khớp yêu cầu, và chứng minh đạt ngưỡng bằng đánh giá định lượng (phần sau).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4. ĐÁNH GIÁ ĐỊNH LƯỢNG MODULE AI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Phương pháp &amp; khung đo lường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800" b="1" i="0">
                <a:solidFill>
                  <a:srgbClr val="0030B0"/>
                </a:solidFill>
                <a:latin typeface="Montserrat"/>
              </a:rPr>
              <a:t>“Module AI có đáng tin, hiệu quả và sư phạm không? → ĐO LƯỜNG, không KHẲNG ĐỊNH.”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2103120" cy="1143000"/>
          </a:xfrm>
          <a:prstGeom prst="roundRect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 i="0">
                <a:solidFill>
                  <a:srgbClr val="0030B0"/>
                </a:solidFill>
                <a:latin typeface="Montserrat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1920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A"/>
                </a:solidFill>
                <a:latin typeface="Arial"/>
              </a:rPr>
              <a:t>Độ tin cậy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4" y="2468880"/>
            <a:ext cx="2103120" cy="1143000"/>
          </a:xfrm>
          <a:prstGeom prst="roundRect">
            <a:avLst/>
          </a:prstGeom>
          <a:solidFill>
            <a:srgbClr val="D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2578608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 i="0">
                <a:solidFill>
                  <a:srgbClr val="0030B0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3072384"/>
            <a:ext cx="1920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A"/>
                </a:solidFill>
                <a:latin typeface="Arial"/>
              </a:rPr>
              <a:t>Độ trễ &amp; Chi phí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2468880"/>
            <a:ext cx="2103120" cy="1143000"/>
          </a:xfrm>
          <a:prstGeom prst="roundRect">
            <a:avLst/>
          </a:prstGeom>
          <a:solidFill>
            <a:srgbClr val="F7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2578608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 i="0">
                <a:solidFill>
                  <a:srgbClr val="0030B0"/>
                </a:solidFill>
                <a:latin typeface="Montserrat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072384"/>
            <a:ext cx="1920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A"/>
                </a:solidFill>
                <a:latin typeface="Arial"/>
              </a:rPr>
              <a:t>Trung thực
(chống bịa)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468880"/>
            <a:ext cx="2103120" cy="1143000"/>
          </a:xfrm>
          <a:prstGeom prst="roundRect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2578608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 i="0">
                <a:solidFill>
                  <a:srgbClr val="0030B0"/>
                </a:solidFill>
                <a:latin typeface="Montserrat"/>
              </a:rPr>
              <a:t>D/E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072384"/>
            <a:ext cx="1920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A"/>
                </a:solidFill>
                <a:latin typeface="Arial"/>
              </a:rPr>
              <a:t>Sư phạm:
IWF + Bloom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7776" y="2468880"/>
            <a:ext cx="2103120" cy="1143000"/>
          </a:xfrm>
          <a:prstGeom prst="roundRect">
            <a:avLst/>
          </a:prstGeom>
          <a:solidFill>
            <a:srgbClr val="D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2578608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2200" b="1" i="0">
                <a:solidFill>
                  <a:srgbClr val="0030B0"/>
                </a:solidFill>
                <a:latin typeface="Montserrat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3072384"/>
            <a:ext cx="1920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A"/>
                </a:solidFill>
                <a:latin typeface="Arial"/>
              </a:rPr>
              <a:t>RAG vs Nhồi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5358384" cy="2240280"/>
          </a:xfrm>
          <a:prstGeom prst="round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04488"/>
            <a:ext cx="4901184" cy="205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70C0"/>
                </a:solidFill>
                <a:latin typeface="Montserrat"/>
              </a:rPr>
              <a:t>TẬP DỮ LIỆU &amp; THIẾT LẬP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22A3A"/>
                </a:solidFill>
                <a:latin typeface="Arial"/>
              </a:rPr>
              <a:t>• 10 tài liệu đa lĩnh vực (CNTT · KHTN · KHXH · tiếng Anh · tiếng Việt)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22A3A"/>
                </a:solidFill>
                <a:latin typeface="Arial"/>
              </a:rPr>
              <a:t>• + 3 tài liệu hold-out (chưa từng dùng tune → chống overfitting)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A"/>
                </a:solidFill>
                <a:latin typeface="Arial"/>
              </a:rPr>
              <a:t>• Model pin gemini-2.5-pro-preview-05-06, temp 0.2 → tái lập được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794760"/>
            <a:ext cx="5358384" cy="2240280"/>
          </a:xfrm>
          <a:prstGeom prst="roundRect">
            <a:avLst/>
          </a:prstGeom>
          <a:solidFill>
            <a:srgbClr val="F7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904488"/>
            <a:ext cx="4901184" cy="205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D05050"/>
                </a:solidFill>
                <a:latin typeface="Montserrat"/>
              </a:rPr>
              <a:t>CHUẨN SƯ PHẠM ĐÁNH GIÁ CHẤT LƯỢNG CÂU HỎI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• Item Writing Flaws — Haladyna (2002): 12 lỗi soạn câu hỏi trắc nghiệm chuẩn → chất lượng kỹ thuật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• Thang Bloom (6 mức: Nhớ→Hiểu→Áp dụng→Phân tích→Đánh giá→Sáng tạo) → cấp độ tư duy &amp; độ khó</a:t>
            </a:r>
          </a:p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222A3A"/>
                </a:solidFill>
                <a:latin typeface="Arial"/>
              </a:rPr>
              <a:t>• 4 tiêu chí sư phạm: rõ ràng · 1 đáp án đúng · nhiễu hợp lý · bám nguồn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4. ĐÁNH GIÁ ĐỊNH LƯỢNG MODULE AI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A + B — Độ tin cậy, độ trễ &amp; chi phí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0030B0"/>
                </a:solidFill>
                <a:latin typeface="Montserrat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33832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A3A"/>
                </a:solidFill>
                <a:latin typeface="Arial"/>
              </a:rPr>
              <a:t>JSON parse &amp; schema hợp lệ
(60 lượt gọi)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0070C0"/>
                </a:solidFill>
                <a:latin typeface="Montserrat"/>
              </a:rPr>
              <a:t>~20–25s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95728"/>
            <a:ext cx="33832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A3A"/>
                </a:solidFill>
                <a:latin typeface="Arial"/>
              </a:rPr>
              <a:t>Độ trễ p50 / lượt
(chi phí ~$0.02–0.06)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55448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D05050"/>
                </a:solidFill>
                <a:latin typeface="Montserrat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395728"/>
            <a:ext cx="33832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A3A"/>
                </a:solidFill>
                <a:latin typeface="Arial"/>
              </a:rPr>
              <a:t>Trường rỗng (sau khi sửa)
— ban đầu 35%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703320"/>
          <a:ext cx="566928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55448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Tính năng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Latency p50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Cost/lượt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A3A"/>
                          </a:solidFill>
                          <a:latin typeface="Arial"/>
                        </a:rPr>
                        <a:t>Sinh dàn ý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A3A"/>
                          </a:solidFill>
                          <a:latin typeface="Arial"/>
                        </a:rPr>
                        <a:t>~21s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A3A"/>
                          </a:solidFill>
                          <a:latin typeface="Arial"/>
                        </a:rPr>
                        <a:t>~$0.06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A3A"/>
                          </a:solidFill>
                          <a:latin typeface="Arial"/>
                        </a:rPr>
                        <a:t>Sinh nội dung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A3A"/>
                          </a:solidFill>
                          <a:latin typeface="Arial"/>
                        </a:rPr>
                        <a:t>~25s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A3A"/>
                          </a:solidFill>
                          <a:latin typeface="Arial"/>
                        </a:rPr>
                        <a:t>~$0.024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A3A"/>
                          </a:solidFill>
                          <a:latin typeface="Arial"/>
                        </a:rPr>
                        <a:t>Sinh quiz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A3A"/>
                          </a:solidFill>
                          <a:latin typeface="Arial"/>
                        </a:rPr>
                        <a:t>~20s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A3A"/>
                          </a:solidFill>
                          <a:latin typeface="Arial"/>
                        </a:rPr>
                        <a:t>~$0.017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583680" y="3703320"/>
            <a:ext cx="4965192" cy="1463040"/>
          </a:xfrm>
          <a:prstGeom prst="roundRect">
            <a:avLst/>
          </a:prstGeom>
          <a:solidFill>
            <a:srgbClr val="F7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840480"/>
            <a:ext cx="457200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05050"/>
                </a:solidFill>
                <a:latin typeface="Montserrat"/>
              </a:rPr>
              <a:t>💡 Quan sát định lượng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222A3A"/>
                </a:solidFill>
                <a:latin typeface="Arial"/>
              </a:rPr>
              <a:t>100% đầu ra bị bọc markdown fence dù prompt cấm → cần lớp hậu xử lý stripJsonFence. Phản chứng giả định “ép JSON là hết lỗi cú pháp”.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4. ĐÁNH GIÁ ĐỊNH LƯỢNG MODULE AI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C — Độ trung thực &amp; “trần”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pic>
        <p:nvPicPr>
          <p:cNvPr id="9" name="Picture 8" descr="chart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22191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1463040"/>
            <a:ext cx="49834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030B0"/>
                </a:solidFill>
                <a:latin typeface="Montserrat"/>
              </a:rPr>
              <a:t>Mở rộng Ground-Truth 5→15→25 facts: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222A3A"/>
                </a:solidFill>
                <a:latin typeface="Arial"/>
              </a:rPr>
              <a:t>• Hallucination chạm TRẦN ~50% — chứng minh là giới hạn phương pháp, không hand-wave.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222A3A"/>
                </a:solidFill>
                <a:latin typeface="Arial"/>
              </a:rPr>
              <a:t>• Phân rã 50% còn lại (đọc tay 5 ca): 100% là inference-extension, 0 ca mâu thuẫn nguồn.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D05050"/>
                </a:solidFill>
                <a:latin typeface="Arial"/>
              </a:rPr>
              <a:t>→ Tỉ lệ bịa-sai thực tế ước tính 0–10%.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892040"/>
            <a:ext cx="4983480" cy="457200"/>
          </a:xfrm>
          <a:prstGeom prst="round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910328"/>
            <a:ext cx="461772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 i="1">
                <a:solidFill>
                  <a:srgbClr val="0060B0"/>
                </a:solidFill>
                <a:latin typeface="Arial"/>
              </a:rPr>
              <a:t>So literature: ChatGPT MCQ 30–40% · RAG-SOTA 5–10% · ta ~50%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92040"/>
            <a:ext cx="5486400" cy="457200"/>
          </a:xfrm>
          <a:prstGeom prst="round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10328"/>
            <a:ext cx="512064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 i="1">
                <a:solidFill>
                  <a:srgbClr val="0030B0"/>
                </a:solidFill>
                <a:latin typeface="Arial"/>
              </a:rPr>
              <a:t>AI là “trợ lý cần giảng viên duyệt”, không tự động tuyệt đối.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4. ĐÁNH GIÁ ĐỊNH LƯỢNG MODULE AI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D/E — Chất lượng câu hỏi &amp; kiểm soát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657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0030B0"/>
                </a:solidFill>
                <a:latin typeface="Montserrat"/>
              </a:rPr>
              <a:t>68% → 94.4%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3657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A3A"/>
                </a:solidFill>
                <a:latin typeface="Arial"/>
              </a:rPr>
              <a:t>Câu KHÔNG lỗi soạn đề (IWF)
trên tài liệu lạ (hold-out)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657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0070C0"/>
                </a:solidFill>
                <a:latin typeface="Montserrat"/>
              </a:rPr>
              <a:t>17/18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3657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A3A"/>
                </a:solidFill>
                <a:latin typeface="Arial"/>
              </a:rPr>
              <a:t>Đạt cả 4 tiêu chí sư phạm
(94.4%)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6858000" cy="4023360"/>
          </a:xfrm>
          <a:prstGeom prst="round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874519"/>
            <a:ext cx="6492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Montserrat"/>
              </a:rPr>
              <a:t>RUNTIME QUALITY GATE (kiểm soát từng câu)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468880"/>
            <a:ext cx="6309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505456"/>
            <a:ext cx="60350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 i="0">
                <a:solidFill>
                  <a:srgbClr val="222A3A"/>
                </a:solidFill>
                <a:latin typeface="Arial"/>
              </a:rPr>
              <a:t>1 · Sinh quiz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273552"/>
            <a:ext cx="6309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310128"/>
            <a:ext cx="60350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 i="0">
                <a:solidFill>
                  <a:srgbClr val="222A3A"/>
                </a:solidFill>
                <a:latin typeface="Arial"/>
              </a:rPr>
              <a:t>2 · Kiểm tra: Schema · Citation trích nguyên văn · Bloom 1–6 · IWF (TW-1/TW-5/ID-2)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078224"/>
            <a:ext cx="6309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4114800"/>
            <a:ext cx="60350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1" i="0">
                <a:solidFill>
                  <a:srgbClr val="D05050"/>
                </a:solidFill>
                <a:latin typeface="Arial"/>
              </a:rPr>
              <a:t>3 · Lỗi? → Tự sửa (retry 1 lần)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4882896"/>
            <a:ext cx="6309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919472"/>
            <a:ext cx="60350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 i="0">
                <a:solidFill>
                  <a:srgbClr val="222A3A"/>
                </a:solidFill>
                <a:latin typeface="Arial"/>
              </a:rPr>
              <a:t>4 · Trả kết quả  (đếm metric qua Micrometer)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4. ĐÁNH GIÁ ĐỊNH LƯỢNG MODULE AI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F — RAG vs Nhồi tài liệu (đóng góp nổi bật)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200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0030B0"/>
                </a:solidFill>
                <a:latin typeface="Montserrat"/>
              </a:rPr>
              <a:t>−68.6%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A3A"/>
                </a:solidFill>
                <a:latin typeface="Arial"/>
              </a:rPr>
              <a:t>Token đầu vào
(Wilcoxon p = 0.004)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3200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0070C0"/>
                </a:solidFill>
                <a:latin typeface="Montserrat"/>
              </a:rPr>
              <a:t>−55.7%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A3A"/>
                </a:solidFill>
                <a:latin typeface="Arial"/>
              </a:rPr>
              <a:t>Chi phí sinh
(p = 0.002)</a:t>
            </a:r>
          </a:p>
        </p:txBody>
      </p:sp>
      <p:pic>
        <p:nvPicPr>
          <p:cNvPr id="13" name="Picture 12" descr="chart_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417320"/>
            <a:ext cx="6145097" cy="3291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023360" y="4983480"/>
            <a:ext cx="7498079" cy="457200"/>
          </a:xfrm>
          <a:prstGeom prst="round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5001768"/>
            <a:ext cx="7132319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 i="1">
                <a:solidFill>
                  <a:srgbClr val="D05050"/>
                </a:solidFill>
                <a:latin typeface="Arial"/>
              </a:rPr>
              <a:t>Đánh đổi trung thực: faithfulness −17% (p=0.027) do top-k bỏ sót — giảm được bằng tăng top-k / reranking.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4. ĐÁNH GIÁ ĐỊNH LƯỢNG MODULE AI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Tổng kết &amp; tính liêm chính phương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08760"/>
            <a:ext cx="3520440" cy="566928"/>
          </a:xfrm>
          <a:prstGeom prst="roundRect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563624"/>
            <a:ext cx="3300984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0030B0"/>
                </a:solidFill>
                <a:latin typeface="Montserrat"/>
              </a:rPr>
              <a:t>TIN CẬY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94560"/>
            <a:ext cx="3191256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100% schema hợp lệ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94% câu không lỗi (hold-out)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Gate tự sửa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508760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520440" cy="566928"/>
          </a:xfrm>
          <a:prstGeom prst="roundRect">
            <a:avLst/>
          </a:prstGeom>
          <a:solidFill>
            <a:srgbClr val="F7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1563624"/>
            <a:ext cx="3300984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D05050"/>
                </a:solidFill>
                <a:latin typeface="Montserrat"/>
              </a:rPr>
              <a:t>TRUNG THỰC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194560"/>
            <a:ext cx="3191256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Bịa-sai thực ~0–10%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0 ca mâu thuẫn nguồn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AI = trợ lý có giám sát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508760"/>
            <a:ext cx="3520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1" y="1508760"/>
            <a:ext cx="3520440" cy="566928"/>
          </a:xfrm>
          <a:prstGeom prst="roundRect">
            <a:avLst/>
          </a:prstGeom>
          <a:solidFill>
            <a:srgbClr val="DD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563624"/>
            <a:ext cx="3300984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0030B0"/>
                </a:solidFill>
                <a:latin typeface="Montserrat"/>
              </a:rPr>
              <a:t>HIỆU QUẢ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2194560"/>
            <a:ext cx="3191256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RAG −69% token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−56% chi phí (significant)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22A3A"/>
                </a:solidFill>
                <a:latin typeface="Arial"/>
              </a:rPr>
              <a:t>Mở rộng theo độ dài tài liệu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10908792" cy="1371600"/>
          </a:xfrm>
          <a:prstGeom prst="round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10424160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70C0"/>
                </a:solidFill>
                <a:latin typeface="Montserrat"/>
              </a:rPr>
              <a:t>✓ Liêm chính: faithfulness do AI-judge → DISCLOSE rõ không phải human, và KIỂM CHỨNG CHÉO bằng model thứ hai: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A3A"/>
                </a:solidFill>
                <a:latin typeface="Arial"/>
              </a:rPr>
              <a:t>κ (hallucination) = 1.00 · điểm 100% trong ±1 (QWK 0.66) → judge không phải outlier.</a:t>
            </a:r>
          </a:p>
          <a:p>
            <a:pPr algn="l"/>
            <a:r>
              <a:rPr sz="1250" b="0" i="1">
                <a:solidFill>
                  <a:srgbClr val="6B7280"/>
                </a:solidFill>
                <a:latin typeface="Arial"/>
              </a:rPr>
              <a:t>Future work: human rescoring · tăng top-k/reranking · bake-off đa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PHỤ LỤC — DỮ LIỆU CHI TIẾT (Q&amp;A)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P1 — Danh sách tài liệu dùng để đo lường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Montserrat"/>
              </a:rPr>
              <a:t>Tập chính (dùng để phát triển &amp; đo) — 10 tài liệu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64208"/>
          <a:ext cx="10908792" cy="28666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4572000"/>
                <a:gridCol w="2743200"/>
                <a:gridCol w="1143000"/>
                <a:gridCol w="1673352"/>
              </a:tblGrid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Mã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Tài liệu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Lĩnh vực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Ngôn ngữ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Quy mô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D01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Programming Languages &amp; Compilers (Intro)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CNTT — Ngôn ngữ LT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36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D02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Structured Query Language — DDL/DML/DCL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CNTT — CSDL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114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D03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Searching Algorithms &amp; Hash Tables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CNTT — CTDL &amp; Giải thuật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124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D04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Transaction Processing Concepts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CNTT — CSDL / Giao dịch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65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D05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Graph Connectivity (Discrete Structures)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Toán rời rạc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EN/VI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360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D06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Bayesian Learning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AI — Học máy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36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D07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Design Thinking (E-Commerce)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TMĐT — Thiết kế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72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D08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Đại cương về Marketing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Kinh tế — Marketing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VI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26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D09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Trường tĩnh điện trong chân không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Vật lý đại cương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VI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25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D10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Supply, Demand &amp; Market Equilibrium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Kinh tế vi mô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57 trang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736592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D05050"/>
                </a:solidFill>
                <a:latin typeface="Montserrat"/>
              </a:rPr>
              <a:t>Tập hold-out (CHƯA từng dùng tune → chống overfitting) — 3 tài liệu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5074920"/>
          <a:ext cx="10908792" cy="1042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4572000"/>
                <a:gridCol w="2743200"/>
                <a:gridCol w="1143000"/>
                <a:gridCol w="1673352"/>
              </a:tblGrid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Mã</a:t>
                      </a:r>
                    </a:p>
                  </a:txBody>
                  <a:tcPr marL="76200" marR="76200" marT="38100" marB="38100" anchor="ctr">
                    <a:solidFill>
                      <a:srgbClr val="D05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Tài liệu</a:t>
                      </a:r>
                    </a:p>
                  </a:txBody>
                  <a:tcPr marL="76200" marR="76200" marT="38100" marB="38100" anchor="ctr">
                    <a:solidFill>
                      <a:srgbClr val="D05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Lĩnh vực</a:t>
                      </a:r>
                    </a:p>
                  </a:txBody>
                  <a:tcPr marL="76200" marR="76200" marT="38100" marB="38100" anchor="ctr">
                    <a:solidFill>
                      <a:srgbClr val="D05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Ngôn ngữ</a:t>
                      </a:r>
                    </a:p>
                  </a:txBody>
                  <a:tcPr marL="76200" marR="76200" marT="38100" marB="38100" anchor="ctr">
                    <a:solidFill>
                      <a:srgbClr val="D05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Quy mô</a:t>
                      </a:r>
                    </a:p>
                  </a:txBody>
                  <a:tcPr marL="76200" marR="76200" marT="38100" marB="38100" anchor="ctr">
                    <a:solidFill>
                      <a:srgbClr val="D05050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D11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Data Streaming (Chapter 2)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CNTT — Kỹ thuật dữ liệu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~17k ký tự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D12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Những khái niệm chung về Nhà nước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Luật / Chính trị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VI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~14k ký tự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D13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Delta Lake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CNTT — Kỹ thuật dữ liệu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~95k ký tự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619963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Arial"/>
              </a:rPr>
              <a:t>13 tài liệu · EN + VI · 25–360 trang · phủ CNTT, Toán, AI, Kinh tế, Marketing, Vật lý, Luật.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PHỤ LỤC — DỮ LIỆU CHI TIẾT (Q&amp;A)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P2 — Kiểm định Wilcoxon signed-rank (paired)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50" b="1" i="0">
                <a:solidFill>
                  <a:srgbClr val="0070C0"/>
                </a:solidFill>
                <a:latin typeface="Montserrat"/>
              </a:rPr>
              <a:t>RAG vs STUFF — % thay đổi theo chỉ số  (page-content N=30 · focused-quiz N=10)</a:t>
            </a:r>
          </a:p>
        </p:txBody>
      </p:sp>
      <p:pic>
        <p:nvPicPr>
          <p:cNvPr id="10" name="Picture 9" descr="chart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691640"/>
            <a:ext cx="8272985" cy="3794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623560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A3A"/>
                </a:solidFill>
                <a:latin typeface="Arial"/>
              </a:rPr>
              <a:t>Token &amp; chi phí giảm mạnh, có ý nghĩa thống kê (p ≤ 0,006) ở CẢ HAI chức năng; latency chỉ là xu hướng (ns).</a:t>
            </a:r>
          </a:p>
          <a:p>
            <a:pPr algn="l"/>
            <a:r>
              <a:rPr sz="1150" b="0" i="1">
                <a:solidFill>
                  <a:srgbClr val="6B7280"/>
                </a:solidFill>
                <a:latin typeface="Arial"/>
              </a:rPr>
              <a:t>Faithfulness chỉ vẽ cho page-content (đánh đổi −17%, p=0,027); chất lượng quiz đo bằng IWF gate (D10), không dùng key-fact judge.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PHỤ LỤC — DỮ LIỆU CHI TIẾT (Q&amp;A)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P3 — RAG vs STUFF theo từng tài liệu (page-content)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P3</a:t>
            </a:r>
          </a:p>
        </p:txBody>
      </p:sp>
      <p:pic>
        <p:nvPicPr>
          <p:cNvPr id="9" name="Picture 8" descr="chart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6714381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86600" y="1481328"/>
          <a:ext cx="4480560" cy="3721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1371600"/>
                <a:gridCol w="20574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Doc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Δ token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Faith S→R</a:t>
                      </a:r>
                    </a:p>
                  </a:txBody>
                  <a:tcPr marL="76200" marR="76200" marT="38100" marB="38100" anchor="ctr">
                    <a:solidFill>
                      <a:srgbClr val="0070C0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D01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−58%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3,67 → 3,00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D02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−79%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4,67 → 3,33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D03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−88%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2,67 → 2,67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D04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−70%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4,00 → 4,50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D05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−83%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3,67 → 2,00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D06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−59%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4,00 → 4,33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D07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−56%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5,00 → 3,33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D08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+7%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5,00 → 4,33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D09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−34%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3,00 → 2,67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22A3A"/>
                          </a:solidFill>
                          <a:latin typeface="Arial"/>
                        </a:rPr>
                        <a:t>D10</a:t>
                      </a:r>
                    </a:p>
                  </a:txBody>
                  <a:tcPr marL="76200" marR="76200" marT="38100" marB="38100" anchor="ctr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−59%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22A3A"/>
                          </a:solidFill>
                          <a:latin typeface="Arial"/>
                        </a:rPr>
                        <a:t>5,00 → 3,67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48640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D08 (26 trang) +7% token vì top-6 chunk &gt; cả tài liệu · D05 (360 trang) faithfulness giảm mạnh nhất do top-k bỏ sót · Faith = TB 3 lần (loại 1 dòng lỗi D04).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10607040" y="0"/>
            <a:ext cx="1584655" cy="1005840"/>
          </a:xfrm>
          <a:prstGeom prst="rtTriangle">
            <a:avLst/>
          </a:prstGeom>
          <a:solidFill>
            <a:srgbClr val="E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5943600"/>
            <a:ext cx="1463040" cy="914400"/>
          </a:xfrm>
          <a:prstGeom prst="rtTriangle">
            <a:avLst/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30B0"/>
                </a:solidFill>
                <a:latin typeface="Montserrat"/>
              </a:rPr>
              <a:t>PHỤ LỤC — DỮ LIỆU CHI TIẾT (Q&amp;A)</a:t>
            </a:r>
          </a:p>
          <a:p>
            <a:pPr algn="l"/>
            <a:r>
              <a:rPr sz="1500" b="0" i="0">
                <a:solidFill>
                  <a:srgbClr val="6B7280"/>
                </a:solidFill>
                <a:latin typeface="Arial"/>
              </a:rPr>
              <a:t>P4 — Cross-check LLM-judge bằng model thứ 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9260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600" b="1" i="0">
                <a:solidFill>
                  <a:srgbClr val="B0B8C4"/>
                </a:solidFill>
                <a:latin typeface="Montserrat"/>
              </a:rPr>
              <a:t>CSE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82296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Arial"/>
              </a:rPr>
              <a:t>P4</a:t>
            </a:r>
          </a:p>
        </p:txBody>
      </p:sp>
      <p:pic>
        <p:nvPicPr>
          <p:cNvPr id="9" name="Picture 8" descr="chart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4808913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49440" y="1463040"/>
            <a:ext cx="4617720" cy="4114800"/>
          </a:xfrm>
          <a:prstGeom prst="round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600200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Montserrat"/>
              </a:rPr>
              <a:t>ĐỘ ĐỒNG THUẬN (n=10)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48840"/>
            <a:ext cx="4160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D05050"/>
                </a:solidFill>
                <a:latin typeface="Montserrat"/>
              </a:rPr>
              <a:t>κ hallucination = 1,00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532888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Arial"/>
              </a:rPr>
              <a:t>trùng khớp hoàn toàn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953512"/>
            <a:ext cx="4160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0030B0"/>
                </a:solidFill>
                <a:latin typeface="Montserrat"/>
              </a:rPr>
              <a:t>QWK (điểm 1–5) = 0,66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337560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Arial"/>
              </a:rPr>
              <a:t>khá (substantial)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58184"/>
            <a:ext cx="4160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0030B0"/>
                </a:solidFill>
                <a:latin typeface="Montserrat"/>
              </a:rPr>
              <a:t>Đồng thuận ±1 điểm =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142232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Arial"/>
              </a:rPr>
              <a:t>không cặp nào lệch &gt;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562856"/>
            <a:ext cx="4160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6B7280"/>
                </a:solidFill>
                <a:latin typeface="Montserrat"/>
              </a:rPr>
              <a:t>MAD = 0,60 · TB G/C = 3,40 / 3,80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94690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Arial"/>
              </a:rPr>
              <a:t>Claude lenient hơn ~0,4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Gemini-Flash judge vs model thứ 2 (Claude) trên CÙNG key_facts → cross-MODEL, không phải human inter-rater (đã disclose). Judge không phải outlier.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